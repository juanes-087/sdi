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Work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ghW7PVb2NPWJE3PVy7PGJpHpz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11" Type="http://schemas.openxmlformats.org/officeDocument/2006/relationships/slide" Target="slides/slide7.xml"/><Relationship Id="rId22" Type="http://schemas.openxmlformats.org/officeDocument/2006/relationships/font" Target="fonts/WorkSans-italic.fntdata"/><Relationship Id="rId10" Type="http://schemas.openxmlformats.org/officeDocument/2006/relationships/slide" Target="slides/slide6.xml"/><Relationship Id="rId21" Type="http://schemas.openxmlformats.org/officeDocument/2006/relationships/font" Target="fonts/WorkSans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Work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ación">
  <p:cSld name="1_Comparació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2555912" y="857789"/>
            <a:ext cx="81762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SERVICIO NACIONAL DE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25098" y="2984002"/>
            <a:ext cx="1094180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Centro de Servicios Empresariales y Turísticos – CSET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Ficha 2993128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2555912" y="857789"/>
            <a:ext cx="817625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GUÍA PARA PRESENTAR PROYECTO DE SOFTWARE ADSO.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309037" y="3645722"/>
            <a:ext cx="922100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Análisis y Desarrollo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234587" y="182091"/>
            <a:ext cx="96552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Special Instruments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50929" y="2832710"/>
            <a:ext cx="10988400" cy="2369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2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IMPLEMENTACIÓN DE UNA SOLUCIÓN TIC DE TIPO SOFTWARE PARA LA OPTIMIZACIÓN DE LA GESTIÓN Y CONTROL DE INSTRUMENTAL Y MATERIAS PRIMAS, EN LA EMPRESA SPECIALIZED, EN FLORIDABLANCA, SANTANDER.</a:t>
            </a:r>
            <a:endParaRPr b="1" i="0" sz="2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288758" y="112301"/>
            <a:ext cx="104383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74035" y="2909587"/>
            <a:ext cx="112116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Specialized es una empresa colombiana con </a:t>
            </a:r>
            <a:r>
              <a:rPr lang="es-ES" sz="2800">
                <a:solidFill>
                  <a:schemeClr val="dk1"/>
                </a:solidFill>
              </a:rPr>
              <a:t>más</a:t>
            </a:r>
            <a:r>
              <a:rPr b="0" i="0" lang="es-E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26 años experiencia en el sector de la salud oral, dedicada a brindar un alto nivel de servicio a sus clientes mediante la fabricación de instrumental dental diferenciado por el diseño, el mejoramiento continuo de los procesos y la innovación.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90200" y="1686335"/>
            <a:ext cx="1121168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Juan Esteban Barrios Bautista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490200" y="3159801"/>
            <a:ext cx="11211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PERFIL PROFESIONAL: Tecnólogos en Análisis y Desarrollo de Software formado en el análisis, diseño, desarrollo, implementación y mantenimiento de sistemas de software. Con competencias técnicas adquiridas en áreas como programación, diseño de bases de datos, desarrollo web, ingeniería de software y seguridad informática.</a:t>
            </a:r>
            <a:endParaRPr b="1" i="0" sz="2000" u="none" cap="none" strike="noStrik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Además, fomentado en el desarrollo de habilidades blandas esenciales, como el trabajo en equipo, la comunicación efectiva y la adaptabilidad, cruciales para el entorno laboral dinámico del sector tecnológico.</a:t>
            </a:r>
            <a:endParaRPr b="1" i="0" sz="2000" u="none" cap="none" strike="noStrik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90200" y="2301910"/>
            <a:ext cx="112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Yulvin Santiago Calderón Sierra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468525" y="2551857"/>
            <a:ext cx="11254950" cy="2677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Specialized requiere una solución TIC tipo software para optimizar sus procesos, debido a que actualmente enfrenta 2 grandes problemas, no hay un control optimo de materia prima e instrumental junto a un registro de estos mismos, el cual es muy obsoleto para lo que actualmente demanda la empresa. Por esto, y debido a que en Colombia no existe un software que se solucione estos problemas específicos, se desarrolla esta solución.</a:t>
            </a:r>
            <a:endParaRPr b="0" i="0" sz="2800" u="none" cap="none" strike="noStrike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Definición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915335" y="2357125"/>
            <a:ext cx="10371768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través de los tiempos, de las experiencias en la parte de fabricación, implementación, comercialización y facturación, han surgido grandes falencias en la gestión de inventario, que hace que no se tenga un buen análisis de lo que se tiene y lo que se entrega, al no tener un sistema organizado o un programa que gestione en tiempo real las existencias de las materias primas y los soportes de ventas, se evidencian perdidas económicas significativas, al momento de realizar el cierre mensual.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234587" y="182091"/>
            <a:ext cx="965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Árbol del Problema Specialized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6316354" y="3643085"/>
            <a:ext cx="0" cy="14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51" name="Google Shape;151;p8"/>
          <p:cNvCxnSpPr/>
          <p:nvPr/>
        </p:nvCxnSpPr>
        <p:spPr>
          <a:xfrm>
            <a:off x="4142119" y="3427185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52" name="Google Shape;152;p8"/>
          <p:cNvSpPr txBox="1"/>
          <p:nvPr/>
        </p:nvSpPr>
        <p:spPr>
          <a:xfrm>
            <a:off x="4601931" y="1472879"/>
            <a:ext cx="3424200" cy="42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21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Sobrecarga operativa</a:t>
            </a:r>
            <a:endParaRPr b="0" i="0" sz="2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8"/>
          <p:cNvCxnSpPr/>
          <p:nvPr/>
        </p:nvCxnSpPr>
        <p:spPr>
          <a:xfrm>
            <a:off x="8463294" y="3428772"/>
            <a:ext cx="0" cy="2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54" name="Google Shape;154;p8"/>
          <p:cNvCxnSpPr/>
          <p:nvPr/>
        </p:nvCxnSpPr>
        <p:spPr>
          <a:xfrm>
            <a:off x="4142119" y="3643085"/>
            <a:ext cx="432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55" name="Google Shape;155;p8"/>
          <p:cNvSpPr txBox="1"/>
          <p:nvPr/>
        </p:nvSpPr>
        <p:spPr>
          <a:xfrm>
            <a:off x="8751875" y="2544068"/>
            <a:ext cx="2790900" cy="355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9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Insatisfacción de los clientes</a:t>
            </a:r>
            <a:endParaRPr b="0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t/>
            </a:r>
            <a:endParaRPr b="0" i="0" sz="64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8"/>
          <p:cNvCxnSpPr>
            <a:stCxn id="155" idx="2"/>
          </p:cNvCxnSpPr>
          <p:nvPr/>
        </p:nvCxnSpPr>
        <p:spPr>
          <a:xfrm>
            <a:off x="10147325" y="2899568"/>
            <a:ext cx="0" cy="16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57" name="Google Shape;157;p8"/>
          <p:cNvSpPr txBox="1"/>
          <p:nvPr/>
        </p:nvSpPr>
        <p:spPr>
          <a:xfrm>
            <a:off x="752590" y="2029287"/>
            <a:ext cx="2884500" cy="30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0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Excedente de inventario</a:t>
            </a:r>
            <a:endParaRPr b="0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51954" y="2551416"/>
            <a:ext cx="4321200" cy="37532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Retraso en la producción de instrumental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8"/>
          <p:cNvGrpSpPr/>
          <p:nvPr/>
        </p:nvGrpSpPr>
        <p:grpSpPr>
          <a:xfrm>
            <a:off x="5972463" y="3162501"/>
            <a:ext cx="1193844" cy="289631"/>
            <a:chOff x="9379806" y="3769461"/>
            <a:chExt cx="1193844" cy="289631"/>
          </a:xfrm>
        </p:grpSpPr>
        <p:sp>
          <p:nvSpPr>
            <p:cNvPr id="160" name="Google Shape;160;p8"/>
            <p:cNvSpPr/>
            <p:nvPr/>
          </p:nvSpPr>
          <p:spPr>
            <a:xfrm>
              <a:off x="9379806" y="3769461"/>
              <a:ext cx="1066712" cy="289631"/>
            </a:xfrm>
            <a:prstGeom prst="foldedCorner">
              <a:avLst>
                <a:gd fmla="val 16667" name="adj"/>
              </a:avLst>
            </a:prstGeom>
            <a:solidFill>
              <a:srgbClr val="A5A5A5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"/>
            <p:cNvSpPr txBox="1"/>
            <p:nvPr/>
          </p:nvSpPr>
          <p:spPr>
            <a:xfrm>
              <a:off x="9421050" y="3787480"/>
              <a:ext cx="1152600" cy="255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6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EFECTOS</a:t>
              </a:r>
              <a:endParaRPr b="1" i="0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" name="Google Shape;162;p8"/>
          <p:cNvSpPr txBox="1"/>
          <p:nvPr/>
        </p:nvSpPr>
        <p:spPr>
          <a:xfrm>
            <a:off x="4248949" y="3789349"/>
            <a:ext cx="4130163" cy="58313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Deficiencia en el sistema de facturación y en la gestión del inventario.</a:t>
            </a:r>
            <a:endParaRPr b="0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8"/>
          <p:cNvGrpSpPr/>
          <p:nvPr/>
        </p:nvGrpSpPr>
        <p:grpSpPr>
          <a:xfrm>
            <a:off x="1013652" y="3956102"/>
            <a:ext cx="2443590" cy="289631"/>
            <a:chOff x="1494201" y="3873126"/>
            <a:chExt cx="2443590" cy="289631"/>
          </a:xfrm>
        </p:grpSpPr>
        <p:sp>
          <p:nvSpPr>
            <p:cNvPr id="164" name="Google Shape;164;p8"/>
            <p:cNvSpPr/>
            <p:nvPr/>
          </p:nvSpPr>
          <p:spPr>
            <a:xfrm>
              <a:off x="1494201" y="3873126"/>
              <a:ext cx="2411461" cy="289631"/>
            </a:xfrm>
            <a:prstGeom prst="foldedCorner">
              <a:avLst>
                <a:gd fmla="val 16667" name="adj"/>
              </a:avLst>
            </a:prstGeom>
            <a:solidFill>
              <a:srgbClr val="A5A5A5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"/>
            <p:cNvSpPr txBox="1"/>
            <p:nvPr/>
          </p:nvSpPr>
          <p:spPr>
            <a:xfrm>
              <a:off x="1558456" y="3895994"/>
              <a:ext cx="2379335" cy="255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6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PROBLEMA CENTRAL</a:t>
              </a:r>
              <a:endParaRPr b="1" i="0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6" name="Google Shape;166;p8"/>
          <p:cNvCxnSpPr/>
          <p:nvPr/>
        </p:nvCxnSpPr>
        <p:spPr>
          <a:xfrm>
            <a:off x="2918157" y="4508272"/>
            <a:ext cx="604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67" name="Google Shape;167;p8"/>
          <p:cNvCxnSpPr/>
          <p:nvPr/>
        </p:nvCxnSpPr>
        <p:spPr>
          <a:xfrm>
            <a:off x="5366082" y="4528910"/>
            <a:ext cx="0" cy="19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68" name="Google Shape;168;p8"/>
          <p:cNvSpPr txBox="1"/>
          <p:nvPr/>
        </p:nvSpPr>
        <p:spPr>
          <a:xfrm>
            <a:off x="4215144" y="4724172"/>
            <a:ext cx="2232000" cy="6830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 control cuando hay Alta demanda de instrumental dental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9618686" y="5263922"/>
            <a:ext cx="0" cy="17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70" name="Google Shape;170;p8"/>
          <p:cNvCxnSpPr/>
          <p:nvPr/>
        </p:nvCxnSpPr>
        <p:spPr>
          <a:xfrm>
            <a:off x="8966532" y="4508272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71" name="Google Shape;171;p8"/>
          <p:cNvSpPr txBox="1"/>
          <p:nvPr/>
        </p:nvSpPr>
        <p:spPr>
          <a:xfrm>
            <a:off x="8166121" y="4751500"/>
            <a:ext cx="3277200" cy="538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Ineficiencia del sistema virtual de generación de facturas electrónicas</a:t>
            </a:r>
            <a:endParaRPr b="0" i="0" sz="18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>
            <a:off x="2114691" y="5422673"/>
            <a:ext cx="0" cy="15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73" name="Google Shape;173;p8"/>
          <p:cNvCxnSpPr/>
          <p:nvPr/>
        </p:nvCxnSpPr>
        <p:spPr>
          <a:xfrm>
            <a:off x="3924632" y="5443310"/>
            <a:ext cx="1500" cy="12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74" name="Google Shape;174;p8"/>
          <p:cNvCxnSpPr/>
          <p:nvPr/>
        </p:nvCxnSpPr>
        <p:spPr>
          <a:xfrm>
            <a:off x="2114691" y="5422673"/>
            <a:ext cx="1823100" cy="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75" name="Google Shape;175;p8"/>
          <p:cNvCxnSpPr/>
          <p:nvPr/>
        </p:nvCxnSpPr>
        <p:spPr>
          <a:xfrm rot="10800000">
            <a:off x="2918157" y="5227310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76" name="Google Shape;176;p8"/>
          <p:cNvCxnSpPr/>
          <p:nvPr/>
        </p:nvCxnSpPr>
        <p:spPr>
          <a:xfrm>
            <a:off x="2918157" y="4508272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77" name="Google Shape;177;p8"/>
          <p:cNvSpPr txBox="1"/>
          <p:nvPr/>
        </p:nvSpPr>
        <p:spPr>
          <a:xfrm>
            <a:off x="1765632" y="4724172"/>
            <a:ext cx="2305200" cy="52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91425" spcFirstLastPara="1" rIns="91425" wrap="square" tIns="1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Ineficiencia en la toma de pedidos</a:t>
            </a:r>
            <a:endParaRPr b="0" i="0" sz="21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4862853" y="5587775"/>
            <a:ext cx="1439700" cy="79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Picos de demanda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10424825" y="6311965"/>
            <a:ext cx="1686300" cy="34595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de uso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8166125" y="5546825"/>
            <a:ext cx="1981200" cy="504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Inadecuadas respuestas de la página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3139283" y="5604540"/>
            <a:ext cx="1584300" cy="79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Malas interpretaciones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885151" y="5612450"/>
            <a:ext cx="1823100" cy="79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toma de pedidos  es bastante básica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8"/>
          <p:cNvGrpSpPr/>
          <p:nvPr/>
        </p:nvGrpSpPr>
        <p:grpSpPr>
          <a:xfrm>
            <a:off x="9671201" y="3908779"/>
            <a:ext cx="952243" cy="289631"/>
            <a:chOff x="9488555" y="3917769"/>
            <a:chExt cx="952243" cy="289631"/>
          </a:xfrm>
        </p:grpSpPr>
        <p:sp>
          <p:nvSpPr>
            <p:cNvPr id="184" name="Google Shape;184;p8"/>
            <p:cNvSpPr/>
            <p:nvPr/>
          </p:nvSpPr>
          <p:spPr>
            <a:xfrm>
              <a:off x="9488555" y="3917769"/>
              <a:ext cx="952243" cy="289631"/>
            </a:xfrm>
            <a:prstGeom prst="foldedCorner">
              <a:avLst>
                <a:gd fmla="val 16667" name="adj"/>
              </a:avLst>
            </a:prstGeom>
            <a:solidFill>
              <a:srgbClr val="A5A5A5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9513498" y="3927773"/>
              <a:ext cx="927300" cy="255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6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CAUSAS</a:t>
              </a:r>
              <a:endParaRPr b="1" i="0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6" name="Google Shape;186;p8"/>
          <p:cNvCxnSpPr/>
          <p:nvPr/>
        </p:nvCxnSpPr>
        <p:spPr>
          <a:xfrm>
            <a:off x="7166307" y="4528910"/>
            <a:ext cx="0" cy="19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87" name="Google Shape;187;p8"/>
          <p:cNvSpPr txBox="1"/>
          <p:nvPr/>
        </p:nvSpPr>
        <p:spPr>
          <a:xfrm>
            <a:off x="6518700" y="4724175"/>
            <a:ext cx="1551000" cy="1006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limitada de almacenamiento del inventario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>
            <a:stCxn id="162" idx="2"/>
          </p:cNvCxnSpPr>
          <p:nvPr/>
        </p:nvCxnSpPr>
        <p:spPr>
          <a:xfrm>
            <a:off x="6314031" y="4372479"/>
            <a:ext cx="0" cy="13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89" name="Google Shape;189;p8"/>
          <p:cNvCxnSpPr/>
          <p:nvPr/>
        </p:nvCxnSpPr>
        <p:spPr>
          <a:xfrm>
            <a:off x="9614232" y="5443310"/>
            <a:ext cx="64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0" name="Google Shape;190;p8"/>
          <p:cNvCxnSpPr/>
          <p:nvPr/>
        </p:nvCxnSpPr>
        <p:spPr>
          <a:xfrm>
            <a:off x="10263519" y="5444897"/>
            <a:ext cx="0" cy="100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1" name="Google Shape;191;p8"/>
          <p:cNvCxnSpPr>
            <a:stCxn id="180" idx="3"/>
          </p:cNvCxnSpPr>
          <p:nvPr/>
        </p:nvCxnSpPr>
        <p:spPr>
          <a:xfrm>
            <a:off x="10147325" y="5799275"/>
            <a:ext cx="116100" cy="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2" name="Google Shape;192;p8"/>
          <p:cNvCxnSpPr>
            <a:stCxn id="179" idx="1"/>
          </p:cNvCxnSpPr>
          <p:nvPr/>
        </p:nvCxnSpPr>
        <p:spPr>
          <a:xfrm rot="10800000">
            <a:off x="10263425" y="6465440"/>
            <a:ext cx="161400" cy="1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3" name="Google Shape;193;p8"/>
          <p:cNvCxnSpPr>
            <a:stCxn id="168" idx="2"/>
          </p:cNvCxnSpPr>
          <p:nvPr/>
        </p:nvCxnSpPr>
        <p:spPr>
          <a:xfrm flipH="1">
            <a:off x="5303244" y="5407214"/>
            <a:ext cx="27900" cy="18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94" name="Google Shape;194;p8"/>
          <p:cNvSpPr txBox="1"/>
          <p:nvPr/>
        </p:nvSpPr>
        <p:spPr>
          <a:xfrm>
            <a:off x="8117493" y="1985535"/>
            <a:ext cx="4059663" cy="34189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Incremento en el número de devoluciones</a:t>
            </a:r>
            <a:endParaRPr b="0" i="0" sz="178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6"/>
              <a:buFont typeface="Arial"/>
              <a:buNone/>
            </a:pPr>
            <a:r>
              <a:t/>
            </a:r>
            <a:endParaRPr b="0" i="0" sz="494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8"/>
          <p:cNvCxnSpPr>
            <a:stCxn id="194" idx="2"/>
            <a:endCxn id="155" idx="0"/>
          </p:cNvCxnSpPr>
          <p:nvPr/>
        </p:nvCxnSpPr>
        <p:spPr>
          <a:xfrm>
            <a:off x="10147325" y="2327431"/>
            <a:ext cx="0" cy="21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96" name="Google Shape;196;p8"/>
          <p:cNvSpPr txBox="1"/>
          <p:nvPr/>
        </p:nvSpPr>
        <p:spPr>
          <a:xfrm>
            <a:off x="151954" y="3154802"/>
            <a:ext cx="4321200" cy="39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estandarización de los productos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8"/>
          <p:cNvCxnSpPr>
            <a:stCxn id="158" idx="2"/>
            <a:endCxn id="196" idx="0"/>
          </p:cNvCxnSpPr>
          <p:nvPr/>
        </p:nvCxnSpPr>
        <p:spPr>
          <a:xfrm>
            <a:off x="2312554" y="2926738"/>
            <a:ext cx="0" cy="22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8" name="Google Shape;198;p8"/>
          <p:cNvCxnSpPr>
            <a:endCxn id="158" idx="0"/>
          </p:cNvCxnSpPr>
          <p:nvPr/>
        </p:nvCxnSpPr>
        <p:spPr>
          <a:xfrm>
            <a:off x="2312554" y="2339016"/>
            <a:ext cx="0" cy="21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99" name="Google Shape;199;p8"/>
          <p:cNvSpPr/>
          <p:nvPr/>
        </p:nvSpPr>
        <p:spPr>
          <a:xfrm>
            <a:off x="3468927" y="3939068"/>
            <a:ext cx="736210" cy="315422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115622" y="3153802"/>
            <a:ext cx="412163" cy="28963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 rot="5400000">
            <a:off x="9941242" y="4340371"/>
            <a:ext cx="412163" cy="28963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7611871" y="3089574"/>
            <a:ext cx="4385700" cy="46123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 tiempo requerido en la entrega de los pedidos</a:t>
            </a:r>
            <a:endParaRPr b="0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257873" y="1582480"/>
            <a:ext cx="2334479" cy="441076"/>
          </a:xfrm>
          <a:prstGeom prst="bentArrow">
            <a:avLst>
              <a:gd fmla="val 25000" name="adj1"/>
              <a:gd fmla="val 27592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 flipH="1">
            <a:off x="8039814" y="1582479"/>
            <a:ext cx="2175686" cy="408499"/>
          </a:xfrm>
          <a:prstGeom prst="bentArrow">
            <a:avLst>
              <a:gd fmla="val 25000" name="adj1"/>
              <a:gd fmla="val 27592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9916104" y="3918008"/>
            <a:ext cx="883702" cy="289631"/>
          </a:xfrm>
          <a:prstGeom prst="foldedCorner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615159" y="3084530"/>
            <a:ext cx="734472" cy="289631"/>
          </a:xfrm>
          <a:prstGeom prst="foldedCorner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356360" y="3962056"/>
            <a:ext cx="2240435" cy="289631"/>
          </a:xfrm>
          <a:prstGeom prst="foldedCorner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234587" y="182091"/>
            <a:ext cx="965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Árbol de Objetivos - Specialized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9"/>
          <p:cNvCxnSpPr/>
          <p:nvPr/>
        </p:nvCxnSpPr>
        <p:spPr>
          <a:xfrm>
            <a:off x="6316354" y="3643085"/>
            <a:ext cx="0" cy="14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15" name="Google Shape;215;p9"/>
          <p:cNvCxnSpPr/>
          <p:nvPr/>
        </p:nvCxnSpPr>
        <p:spPr>
          <a:xfrm>
            <a:off x="2366659" y="3427185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16" name="Google Shape;216;p9"/>
          <p:cNvSpPr txBox="1"/>
          <p:nvPr/>
        </p:nvSpPr>
        <p:spPr>
          <a:xfrm>
            <a:off x="4062235" y="1489486"/>
            <a:ext cx="3574393" cy="42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21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Carga moderada operativa</a:t>
            </a:r>
            <a:endParaRPr b="0" i="0" sz="2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9"/>
          <p:cNvCxnSpPr/>
          <p:nvPr/>
        </p:nvCxnSpPr>
        <p:spPr>
          <a:xfrm>
            <a:off x="8463294" y="3428772"/>
            <a:ext cx="0" cy="2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18" name="Google Shape;218;p9"/>
          <p:cNvCxnSpPr/>
          <p:nvPr/>
        </p:nvCxnSpPr>
        <p:spPr>
          <a:xfrm flipH="1" rot="10800000">
            <a:off x="2359248" y="3634021"/>
            <a:ext cx="6104046" cy="895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19" name="Google Shape;219;p9"/>
          <p:cNvSpPr txBox="1"/>
          <p:nvPr/>
        </p:nvSpPr>
        <p:spPr>
          <a:xfrm>
            <a:off x="6891084" y="3015896"/>
            <a:ext cx="5133700" cy="42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</a:t>
            </a: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 tiempo requerido en la entrega de los pedidos</a:t>
            </a:r>
            <a:endParaRPr b="0" i="0" sz="16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8186700" y="2513070"/>
            <a:ext cx="2790900" cy="355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9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Satisfacción de los clientes</a:t>
            </a:r>
            <a:endParaRPr b="0" i="0" sz="6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757998" y="1990962"/>
            <a:ext cx="3202500" cy="30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0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de inventario</a:t>
            </a:r>
            <a:endParaRPr b="0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98648" y="2484833"/>
            <a:ext cx="4321200" cy="39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Adelanto en la producción de instrumental</a:t>
            </a:r>
            <a:endParaRPr b="0" i="0" sz="16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5673839" y="3091287"/>
            <a:ext cx="1152600" cy="2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FINES</a:t>
            </a:r>
            <a:endParaRPr b="1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4541044" y="3798759"/>
            <a:ext cx="4019537" cy="606309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Suficiencia en el sistema de facturación y en la gestión del inventario.</a:t>
            </a:r>
            <a:endParaRPr b="0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1411149" y="3977352"/>
            <a:ext cx="2240435" cy="2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CENTRAL</a:t>
            </a:r>
            <a:endParaRPr b="1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2918157" y="4508272"/>
            <a:ext cx="604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27" name="Google Shape;227;p9"/>
          <p:cNvCxnSpPr/>
          <p:nvPr/>
        </p:nvCxnSpPr>
        <p:spPr>
          <a:xfrm>
            <a:off x="5366082" y="4528910"/>
            <a:ext cx="0" cy="19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28" name="Google Shape;228;p9"/>
          <p:cNvSpPr txBox="1"/>
          <p:nvPr/>
        </p:nvSpPr>
        <p:spPr>
          <a:xfrm>
            <a:off x="4215144" y="4724172"/>
            <a:ext cx="2232000" cy="544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Maximización de ventas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9"/>
          <p:cNvCxnSpPr/>
          <p:nvPr/>
        </p:nvCxnSpPr>
        <p:spPr>
          <a:xfrm>
            <a:off x="9618686" y="5263922"/>
            <a:ext cx="0" cy="17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30" name="Google Shape;230;p9"/>
          <p:cNvCxnSpPr/>
          <p:nvPr/>
        </p:nvCxnSpPr>
        <p:spPr>
          <a:xfrm>
            <a:off x="8966532" y="4508272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31" name="Google Shape;231;p9"/>
          <p:cNvSpPr txBox="1"/>
          <p:nvPr/>
        </p:nvSpPr>
        <p:spPr>
          <a:xfrm>
            <a:off x="8166121" y="4751500"/>
            <a:ext cx="3277200" cy="538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Eficiencia del sistema virtual de generación de facturas electrónicas</a:t>
            </a:r>
            <a:endParaRPr b="0" i="0" sz="16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/>
          <p:nvPr/>
        </p:nvCxnSpPr>
        <p:spPr>
          <a:xfrm>
            <a:off x="2114691" y="5422673"/>
            <a:ext cx="0" cy="15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33" name="Google Shape;233;p9"/>
          <p:cNvCxnSpPr/>
          <p:nvPr/>
        </p:nvCxnSpPr>
        <p:spPr>
          <a:xfrm>
            <a:off x="3924632" y="5443310"/>
            <a:ext cx="1500" cy="12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34" name="Google Shape;234;p9"/>
          <p:cNvCxnSpPr/>
          <p:nvPr/>
        </p:nvCxnSpPr>
        <p:spPr>
          <a:xfrm>
            <a:off x="2114691" y="5422673"/>
            <a:ext cx="1823100" cy="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35" name="Google Shape;235;p9"/>
          <p:cNvCxnSpPr/>
          <p:nvPr/>
        </p:nvCxnSpPr>
        <p:spPr>
          <a:xfrm rot="10800000">
            <a:off x="2918157" y="5227310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36" name="Google Shape;236;p9"/>
          <p:cNvCxnSpPr/>
          <p:nvPr/>
        </p:nvCxnSpPr>
        <p:spPr>
          <a:xfrm>
            <a:off x="2918157" y="4508272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37" name="Google Shape;237;p9"/>
          <p:cNvSpPr txBox="1"/>
          <p:nvPr/>
        </p:nvSpPr>
        <p:spPr>
          <a:xfrm>
            <a:off x="1765632" y="4724172"/>
            <a:ext cx="2305200" cy="52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91425" spcFirstLastPara="1" rIns="91425" wrap="square" tIns="1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Eficiencia en la toma de pedidos</a:t>
            </a:r>
            <a:endParaRPr b="0" i="0" sz="21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4862853" y="5587775"/>
            <a:ext cx="1439700" cy="79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Picos de demanda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10424802" y="6176725"/>
            <a:ext cx="1686300" cy="54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Facilidad de uso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8166125" y="5546825"/>
            <a:ext cx="1981200" cy="504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Adecuadas respuestas de la página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3139283" y="5604540"/>
            <a:ext cx="1584300" cy="79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Personalización de la experiencia del cliente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885151" y="5612450"/>
            <a:ext cx="1823100" cy="792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de procesos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9938832" y="3935095"/>
            <a:ext cx="927300" cy="255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MEDIOS</a:t>
            </a:r>
            <a:endParaRPr b="1" i="0" sz="1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9"/>
          <p:cNvCxnSpPr/>
          <p:nvPr/>
        </p:nvCxnSpPr>
        <p:spPr>
          <a:xfrm>
            <a:off x="7166307" y="4528910"/>
            <a:ext cx="0" cy="19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45" name="Google Shape;245;p9"/>
          <p:cNvSpPr txBox="1"/>
          <p:nvPr/>
        </p:nvSpPr>
        <p:spPr>
          <a:xfrm>
            <a:off x="6518699" y="4724175"/>
            <a:ext cx="1584075" cy="1006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del almacenamiento del inventario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6314031" y="4318666"/>
            <a:ext cx="0" cy="18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47" name="Google Shape;247;p9"/>
          <p:cNvCxnSpPr/>
          <p:nvPr/>
        </p:nvCxnSpPr>
        <p:spPr>
          <a:xfrm>
            <a:off x="9614232" y="5443310"/>
            <a:ext cx="64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48" name="Google Shape;248;p9"/>
          <p:cNvCxnSpPr/>
          <p:nvPr/>
        </p:nvCxnSpPr>
        <p:spPr>
          <a:xfrm>
            <a:off x="10263519" y="5444897"/>
            <a:ext cx="0" cy="100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49" name="Google Shape;249;p9"/>
          <p:cNvCxnSpPr>
            <a:stCxn id="240" idx="3"/>
          </p:cNvCxnSpPr>
          <p:nvPr/>
        </p:nvCxnSpPr>
        <p:spPr>
          <a:xfrm>
            <a:off x="10147325" y="5799275"/>
            <a:ext cx="116100" cy="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50" name="Google Shape;250;p9"/>
          <p:cNvCxnSpPr>
            <a:stCxn id="239" idx="1"/>
          </p:cNvCxnSpPr>
          <p:nvPr/>
        </p:nvCxnSpPr>
        <p:spPr>
          <a:xfrm rot="10800000">
            <a:off x="10263402" y="6451375"/>
            <a:ext cx="161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51" name="Google Shape;251;p9"/>
          <p:cNvCxnSpPr/>
          <p:nvPr/>
        </p:nvCxnSpPr>
        <p:spPr>
          <a:xfrm>
            <a:off x="5366082" y="5285199"/>
            <a:ext cx="0" cy="28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52" name="Google Shape;252;p9"/>
          <p:cNvSpPr txBox="1"/>
          <p:nvPr/>
        </p:nvSpPr>
        <p:spPr>
          <a:xfrm>
            <a:off x="234575" y="940525"/>
            <a:ext cx="3648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7601525" y="1988802"/>
            <a:ext cx="3961250" cy="355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Disminución del número de devoluciones</a:t>
            </a:r>
            <a:endParaRPr b="0" i="0" sz="49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9"/>
          <p:cNvCxnSpPr>
            <a:stCxn id="253" idx="2"/>
            <a:endCxn id="220" idx="0"/>
          </p:cNvCxnSpPr>
          <p:nvPr/>
        </p:nvCxnSpPr>
        <p:spPr>
          <a:xfrm>
            <a:off x="9582150" y="2344302"/>
            <a:ext cx="0" cy="16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55" name="Google Shape;255;p9"/>
          <p:cNvCxnSpPr>
            <a:stCxn id="221" idx="2"/>
            <a:endCxn id="222" idx="0"/>
          </p:cNvCxnSpPr>
          <p:nvPr/>
        </p:nvCxnSpPr>
        <p:spPr>
          <a:xfrm>
            <a:off x="2359248" y="2300562"/>
            <a:ext cx="0" cy="18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56" name="Google Shape;256;p9"/>
          <p:cNvSpPr txBox="1"/>
          <p:nvPr/>
        </p:nvSpPr>
        <p:spPr>
          <a:xfrm>
            <a:off x="757998" y="3070726"/>
            <a:ext cx="3218680" cy="39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16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Estandarización de los productos</a:t>
            </a:r>
            <a:endParaRPr b="0" i="0" sz="9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9"/>
          <p:cNvCxnSpPr/>
          <p:nvPr/>
        </p:nvCxnSpPr>
        <p:spPr>
          <a:xfrm>
            <a:off x="2337246" y="2886455"/>
            <a:ext cx="0" cy="18427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58" name="Google Shape;258;p9"/>
          <p:cNvCxnSpPr/>
          <p:nvPr/>
        </p:nvCxnSpPr>
        <p:spPr>
          <a:xfrm>
            <a:off x="9582150" y="2866691"/>
            <a:ext cx="0" cy="13798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259" name="Google Shape;259;p9"/>
          <p:cNvSpPr/>
          <p:nvPr/>
        </p:nvSpPr>
        <p:spPr>
          <a:xfrm>
            <a:off x="3702727" y="3946756"/>
            <a:ext cx="736210" cy="315422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14276" y="3084530"/>
            <a:ext cx="412163" cy="28963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 rot="5400000">
            <a:off x="10144109" y="4335238"/>
            <a:ext cx="412163" cy="28963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319170" y="1544460"/>
            <a:ext cx="1743065" cy="441076"/>
          </a:xfrm>
          <a:prstGeom prst="bentArrow">
            <a:avLst>
              <a:gd fmla="val 25000" name="adj1"/>
              <a:gd fmla="val 27592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 flipH="1">
            <a:off x="7636628" y="1547286"/>
            <a:ext cx="2005362" cy="441076"/>
          </a:xfrm>
          <a:prstGeom prst="bentArrow">
            <a:avLst>
              <a:gd fmla="val 25000" name="adj1"/>
              <a:gd fmla="val 27592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 txBox="1"/>
          <p:nvPr/>
        </p:nvSpPr>
        <p:spPr>
          <a:xfrm>
            <a:off x="234587" y="150968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574674" y="3228945"/>
            <a:ext cx="1121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Optimizar la gestión del inventario, mejorando los procesos de ventas y la satisfacción del cliente en la empresa Specialized.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490157" y="2305635"/>
            <a:ext cx="11211685" cy="353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OE1:</a:t>
            </a:r>
            <a:r>
              <a:rPr b="1" i="0" lang="es-ES" sz="18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s-E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Identificar los requerimientos del cliente (entregable: lista de requisitos).</a:t>
            </a:r>
            <a:endParaRPr b="1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OE2: </a:t>
            </a:r>
            <a:r>
              <a:rPr b="1" i="0" lang="es-E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Modelar la información estableciendo las estructuras de datos requeridas, con base en los requerimientos (entregable: conjunto de modelos, script, modelo).</a:t>
            </a:r>
            <a:endParaRPr b="1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OE3: </a:t>
            </a:r>
            <a:r>
              <a:rPr b="1" i="0" lang="es-E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Desarrollar la solución de acuerdo con el modelo de datos (entregable: programas: back, front). (con base en el modelo y la estructura definidos)</a:t>
            </a:r>
            <a:endParaRPr b="1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OE4: </a:t>
            </a:r>
            <a:r>
              <a:rPr b="1" i="0" lang="es-E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Establecer las pruebas con el usuario final para su aprobación. (entregable: sistema 100% funcional, aprobado por el cliente).</a:t>
            </a:r>
            <a:br>
              <a:rPr b="1" i="0" lang="es-ES" sz="18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Marco Conceptual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574675" y="1852679"/>
            <a:ext cx="11211685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Herramientas, métodos y técnicas utilizadas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574674" y="3228945"/>
            <a:ext cx="11211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Ej.: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Metodología: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Motor de Base de Datos: PostgreSQL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Front: PHP.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Back: Java, PHP y desarrollo sobre motor a través de PL-SQL para reglas de negocio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Arquitectura: Cliente/Servidor orientada  al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Seguridad: encriptación de datos, autenticación de 2 factores, token, encapsulamiento para control de sql-injection, etc…</a:t>
            </a:r>
            <a:endParaRPr b="1" i="0" sz="2000" u="none" cap="none" strike="noStrik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156" y="1607484"/>
            <a:ext cx="10062651" cy="50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/>
        </p:nvSpPr>
        <p:spPr>
          <a:xfrm>
            <a:off x="234587" y="182091"/>
            <a:ext cx="23071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574675" y="1852679"/>
            <a:ext cx="11211685" cy="1661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-"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Ingeniería de requisitos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-"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Modelos básicos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2025-04-05T22:13:30Z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C02D1B5B6AED466A9944616DF657D35F_12</vt:lpwstr>
  </property>
  <property fmtid="{D5CDD505-2E9C-101B-9397-08002B2CF9AE}" pid="10" name="KSOProductBuildVer">
    <vt:lpwstr>2058-12.2.0.20782</vt:lpwstr>
  </property>
</Properties>
</file>