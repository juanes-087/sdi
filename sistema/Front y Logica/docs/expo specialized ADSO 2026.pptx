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ato" panose="020B0604020202020204" charset="0"/>
      <p:regular r:id="rId27"/>
      <p:bold r:id="rId28"/>
      <p:italic r:id="rId29"/>
      <p:boldItalic r:id="rId30"/>
    </p:embeddedFont>
    <p:embeddedFont>
      <p:font typeface="Lexend" panose="020B0604020202020204" charset="0"/>
      <p:regular r:id="rId31"/>
      <p:bold r:id="rId32"/>
    </p:embeddedFont>
    <p:embeddedFont>
      <p:font typeface="Lexend SemiBold" panose="020B0604020202020204" charset="0"/>
      <p:regular r:id="rId33"/>
      <p:bold r:id="rId34"/>
    </p:embeddedFont>
    <p:embeddedFont>
      <p:font typeface="Montserrat" panose="020B0604020202020204" charset="0"/>
      <p:regular r:id="rId35"/>
      <p:bold r:id="rId36"/>
      <p:italic r:id="rId37"/>
      <p:boldItalic r:id="rId38"/>
    </p:embeddedFont>
    <p:embeddedFont>
      <p:font typeface="Open Sans" panose="020B0604020202020204" charset="0"/>
      <p:regular r:id="rId39"/>
      <p:bold r:id="rId40"/>
      <p:italic r:id="rId41"/>
      <p:boldItalic r:id="rId42"/>
    </p:embeddedFont>
    <p:embeddedFont>
      <p:font typeface="Poppins SemiBold" panose="020B0604020202020204" charset="0"/>
      <p:regular r:id="rId43"/>
      <p:bold r:id="rId44"/>
      <p:italic r:id="rId45"/>
      <p:boldItalic r:id="rId46"/>
    </p:embeddedFont>
    <p:embeddedFont>
      <p:font typeface="Trebuchet MS" panose="020B0603020202020204" pitchFamily="34" charset="0"/>
      <p:regular r:id="rId47"/>
      <p:bold r:id="rId48"/>
      <p:italic r:id="rId49"/>
      <p:boldItalic r:id="rId50"/>
    </p:embeddedFont>
    <p:embeddedFont>
      <p:font typeface="Work Sans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qmczl+NU+HCsu6mgGgQ7UEw/q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font" Target="fonts/font2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font" Target="fonts/font3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54" Type="http://schemas.openxmlformats.org/officeDocument/2006/relationships/font" Target="fonts/font3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font" Target="fonts/font2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font" Target="fonts/font3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10" name="Google Shape;11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23" name="Google Shape;123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3" name="Google Shape;13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1" name="Google Shape;1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fe24e842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defe24e842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90" name="Google Shape;190;g3defe24e842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fe24e842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defe24e842_0_2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06" name="Google Shape;206;g3defe24e842_0_2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efe24e842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defe24e842_0_3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21" name="Google Shape;221;g3defe24e842_0_3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efe24e8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defe24e84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defe24e84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efe24e84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defe24e842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defe24e842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efe24e84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defe24e842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3defe24e842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efe24e84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defe24e842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defe24e842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fe24e84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defe24e842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3defe24e842_0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efe24e84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defe24e842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defe24e842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efe24e84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defe24e842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defe24e842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d925fce4a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3dd925fce4a_1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43" name="Google Shape;343;g3dd925fce4a_1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es-087/sdi/blob/main/documentacion/LISTADO_REQ_SPECIALIZED%20V1.6.xls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github.com/Juanes-087/sdi/blob/main/documentacion/LISTADO_REQ_SPECIALIZED%20V1.7.xlsx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es-087/sdi/blob/main/documentacion/MANUALES/imagenes_tecnico/ModeloRelacionalPdf_V3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uanes-087.github.io/manual_tecnico/" TargetMode="External"/><Relationship Id="rId4" Type="http://schemas.openxmlformats.org/officeDocument/2006/relationships/hyperlink" Target="https://github.com/Juanes-087/sdi/blob/main/documentacion/MANUALES/MANUAL_TECNICO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uanes-087/sdi/blob/main/sistema/BACK/script_instalacion_audit_trail.sql" TargetMode="Externa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logistik.com/es/blog/todo-sobre-la-administracion-de-inventario-que-es-y-como-funciona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maps/place/Specialized+Instrumental+Dental/@7.0680288,-73.0982567,7a,73.2y/data=!3m8!1e2!3m6!1sCIHM0ogKEICAgIDWuMjYlwE!2e10!3e12!6shttps:%2F%2Flh3.googleusercontent.com%2Fgps-cs-s%2FAPNQkAG8v7IL2rXWUTy6a8YqBD4mKRihxc--gPEvJl3kKPYgQwq9m5v4hDL4MbF72QxUFvxtCz12Hs3xCIT5kZ6AxHhKsdRZpaQy-VYofYKLoRUSEGuxMGlpdcDQmpx5vCPGoUJx_nquyQ%3Dw203-h270-k-no!7i2448!8i3264!4m17!1m9!3m8!1s0x8e683f653522c85b:0x688de26a044ce437!2sSpecialized+Instrumental+Dental!8m2!3d7.0683181!4d-73.0979536!9m1!1b1!16s%2Fg%2F11qg978fwz!3m6!1s0x8e683f653522c85b:0x688de26a044ce437!8m2!3d7.0683181!4d-73.0979536!10e5!16s%2Fg%2F11qg978fwz?entry=ttu&amp;g_ep=EgoyMDI2MDUwMi4wIKXMDSoASAFQAw%3D%3D" TargetMode="External"/><Relationship Id="rId4" Type="http://schemas.openxmlformats.org/officeDocument/2006/relationships/hyperlink" Target="https://prolyam.com/cual-es-el-costo-total-del-sistema-de-inventari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2555912" y="857789"/>
            <a:ext cx="817625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ES" sz="48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5098" y="2984002"/>
            <a:ext cx="10941803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Centro de Servicios Empresariales y Turísticos – CSET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Ficha 2993128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2007912" y="2075814"/>
            <a:ext cx="8176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ES" sz="48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DE SOFTWARE ADSO.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309037" y="3645722"/>
            <a:ext cx="9221001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Análisis y Desarrollo de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1"/>
          <p:cNvSpPr txBox="1"/>
          <p:nvPr/>
        </p:nvSpPr>
        <p:spPr>
          <a:xfrm>
            <a:off x="395125" y="27537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Idea del proyecto</a:t>
            </a:r>
            <a:endParaRPr sz="32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4" name="Google Shape;114;p31"/>
          <p:cNvGrpSpPr/>
          <p:nvPr/>
        </p:nvGrpSpPr>
        <p:grpSpPr>
          <a:xfrm>
            <a:off x="1333500" y="3429000"/>
            <a:ext cx="9525000" cy="2286000"/>
            <a:chOff x="1333500" y="3429000"/>
            <a:chExt cx="9525000" cy="2286000"/>
          </a:xfrm>
        </p:grpSpPr>
        <p:sp>
          <p:nvSpPr>
            <p:cNvPr id="115" name="Google Shape;115;p31"/>
            <p:cNvSpPr/>
            <p:nvPr/>
          </p:nvSpPr>
          <p:spPr>
            <a:xfrm>
              <a:off x="1333500" y="3429000"/>
              <a:ext cx="9525000" cy="2286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1"/>
            <p:cNvSpPr txBox="1"/>
            <p:nvPr/>
          </p:nvSpPr>
          <p:spPr>
            <a:xfrm>
              <a:off x="1714500" y="3619500"/>
              <a:ext cx="876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s-ES" sz="2800" b="0" i="0" u="none" strike="noStrike" cap="non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Implementación de una solución software para la </a:t>
              </a:r>
              <a:r>
                <a:rPr lang="es-ES" sz="2800" b="1" i="0" u="none" strike="noStrike" cap="non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optimización de la gestión y control</a:t>
              </a:r>
              <a:r>
                <a:rPr lang="es-ES" sz="2800" b="0" i="0" u="none" strike="noStrike" cap="non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 de instrumental y materias primas, en la empresa SPECIALIZED,Ubicada en Floridablanca, SANTANDER.</a:t>
              </a:r>
              <a:endParaRPr sz="2800" b="0" i="0" u="none" strike="noStrike" cap="non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17" name="Google Shape;11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00" y="237625"/>
            <a:ext cx="836500" cy="9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4465" y="1820748"/>
            <a:ext cx="1057423" cy="990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1"/>
          <p:cNvSpPr txBox="1"/>
          <p:nvPr/>
        </p:nvSpPr>
        <p:spPr>
          <a:xfrm>
            <a:off x="3412088" y="1993612"/>
            <a:ext cx="7718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SPECIAL DENTAL INSTRUMENTS</a:t>
            </a:r>
            <a:endParaRPr sz="3200" b="1" i="0" u="none" strike="noStrike" cap="none" dirty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/>
          <p:nvPr/>
        </p:nvSpPr>
        <p:spPr>
          <a:xfrm>
            <a:off x="269364" y="119341"/>
            <a:ext cx="965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2"/>
          <p:cNvSpPr txBox="1"/>
          <p:nvPr/>
        </p:nvSpPr>
        <p:spPr>
          <a:xfrm>
            <a:off x="606889" y="4190286"/>
            <a:ext cx="1121168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Juan Esteban Barrios Bautista</a:t>
            </a:r>
            <a:endParaRPr sz="1400" b="1" i="0" u="none" strike="noStrike" cap="non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7" name="Google Shape;127;p32"/>
          <p:cNvSpPr txBox="1"/>
          <p:nvPr/>
        </p:nvSpPr>
        <p:spPr>
          <a:xfrm>
            <a:off x="474035" y="2760048"/>
            <a:ext cx="1121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PROFESIONAL:Bachiller </a:t>
            </a:r>
            <a:r>
              <a:rPr lang="es-ES" sz="2000"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Técnico con especialidad en informática,</a:t>
            </a: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Técnico en sistemas, Desarrollador Junior, Tecn</a:t>
            </a:r>
            <a:r>
              <a:rPr lang="es-ES" sz="2000"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ó</a:t>
            </a: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logo Análisis y Desarrollo de software e</a:t>
            </a:r>
            <a:r>
              <a:rPr lang="es-ES" sz="2000"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n formación</a:t>
            </a: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2"/>
          <p:cNvSpPr txBox="1"/>
          <p:nvPr/>
        </p:nvSpPr>
        <p:spPr>
          <a:xfrm>
            <a:off x="606889" y="1950884"/>
            <a:ext cx="1121168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Yulvin Santiago Calderón Sierra</a:t>
            </a:r>
            <a:endParaRPr sz="34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9" name="Google Shape;129;p32"/>
          <p:cNvSpPr txBox="1"/>
          <p:nvPr/>
        </p:nvSpPr>
        <p:spPr>
          <a:xfrm>
            <a:off x="490157" y="4907116"/>
            <a:ext cx="11211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PROFESIONAL: Bachiller, </a:t>
            </a:r>
            <a:r>
              <a:rPr lang="es-ES" sz="2000"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Tecnólogo Análisis y Desarrollo de software en formación</a:t>
            </a:r>
            <a:r>
              <a:rPr lang="es-ES" sz="20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20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288758" y="112301"/>
            <a:ext cx="104383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690950" y="2152038"/>
            <a:ext cx="523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s-E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nfocados en la excelencia técnica y el diseño de vanguardia.</a:t>
            </a:r>
            <a:endParaRPr/>
          </a:p>
        </p:txBody>
      </p:sp>
      <p:grpSp>
        <p:nvGrpSpPr>
          <p:cNvPr id="137" name="Google Shape;137;p4"/>
          <p:cNvGrpSpPr/>
          <p:nvPr/>
        </p:nvGrpSpPr>
        <p:grpSpPr>
          <a:xfrm>
            <a:off x="655100" y="3089650"/>
            <a:ext cx="5310600" cy="2922000"/>
            <a:chOff x="571500" y="3679775"/>
            <a:chExt cx="5310600" cy="2922000"/>
          </a:xfrm>
        </p:grpSpPr>
        <p:pic>
          <p:nvPicPr>
            <p:cNvPr id="138" name="Google Shape;138;p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3679775"/>
              <a:ext cx="5238750" cy="9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4822775"/>
              <a:ext cx="5238750" cy="77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5784800"/>
              <a:ext cx="5238750" cy="77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4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2475" y="3822650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4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2475" y="4965650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4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2475" y="5927675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4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95350" y="3941712"/>
              <a:ext cx="142875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4"/>
            <p:cNvSpPr txBox="1"/>
            <p:nvPr/>
          </p:nvSpPr>
          <p:spPr>
            <a:xfrm>
              <a:off x="1371600" y="3822650"/>
              <a:ext cx="4510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50" b="0" i="0" u="none" strike="noStrike" cap="none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26 Años de Trayectoria</a:t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1371600" y="4127450"/>
              <a:ext cx="4295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0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Experiencia consolidada fabricando instrumental dental diferenciado.</a:t>
              </a:r>
              <a:endParaRPr/>
            </a:p>
          </p:txBody>
        </p:sp>
        <p:pic>
          <p:nvPicPr>
            <p:cNvPr id="147" name="Google Shape;147;p4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71537" y="5084712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4"/>
            <p:cNvSpPr txBox="1"/>
            <p:nvPr/>
          </p:nvSpPr>
          <p:spPr>
            <a:xfrm>
              <a:off x="1371600" y="4965650"/>
              <a:ext cx="41304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50" b="0" i="0" u="none" strike="noStrike" cap="none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Innovación Continua</a:t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1371600" y="5270450"/>
              <a:ext cx="393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0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Mejoramiento constante de procesos y diseño de productos.</a:t>
              </a:r>
              <a:endParaRPr/>
            </a:p>
          </p:txBody>
        </p:sp>
        <p:pic>
          <p:nvPicPr>
            <p:cNvPr id="150" name="Google Shape;150;p4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57250" y="6046737"/>
              <a:ext cx="219075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4"/>
            <p:cNvSpPr txBox="1"/>
            <p:nvPr/>
          </p:nvSpPr>
          <p:spPr>
            <a:xfrm>
              <a:off x="1371600" y="5927675"/>
              <a:ext cx="4240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50" b="0" i="0" u="none" strike="noStrike" cap="none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Servicio de Alto Nivel</a:t>
              </a: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1371600" y="6232475"/>
              <a:ext cx="403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0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Compromiso absoluto con la satisfacción de nuestros clientes.</a:t>
              </a:r>
              <a:endParaRPr/>
            </a:p>
          </p:txBody>
        </p:sp>
      </p:grpSp>
      <p:pic>
        <p:nvPicPr>
          <p:cNvPr id="153" name="Google Shape;153;p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04025" y="1568850"/>
            <a:ext cx="4681025" cy="510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Definición del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910047" y="1620475"/>
            <a:ext cx="103719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/>
              <a:t>H</a:t>
            </a: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surgido grandes falencias en la gestión de inventario, que hace que no se tenga un buen análisis de lo que se tiene y lo que se entrega</a:t>
            </a:r>
            <a:r>
              <a:rPr lang="es-ES" sz="2000"/>
              <a:t>,</a:t>
            </a: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evidencian </a:t>
            </a:r>
            <a:r>
              <a:rPr lang="es-ES" sz="2000"/>
              <a:t>pérdidas</a:t>
            </a: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económicas significativas</a:t>
            </a:r>
            <a:r>
              <a:rPr lang="es-ES" sz="2000"/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7"/>
          <p:cNvGrpSpPr/>
          <p:nvPr/>
        </p:nvGrpSpPr>
        <p:grpSpPr>
          <a:xfrm>
            <a:off x="1138300" y="3066575"/>
            <a:ext cx="5109700" cy="3145250"/>
            <a:chOff x="910050" y="2776100"/>
            <a:chExt cx="5109700" cy="3145250"/>
          </a:xfrm>
        </p:grpSpPr>
        <p:pic>
          <p:nvPicPr>
            <p:cNvPr id="162" name="Google Shape;162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6450" y="2776100"/>
              <a:ext cx="3543300" cy="308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7"/>
            <p:cNvPicPr preferRelativeResize="0"/>
            <p:nvPr/>
          </p:nvPicPr>
          <p:blipFill rotWithShape="1">
            <a:blip r:embed="rId4">
              <a:alphaModFix/>
            </a:blip>
            <a:srcRect l="2676"/>
            <a:stretch/>
          </p:blipFill>
          <p:spPr>
            <a:xfrm flipH="1">
              <a:off x="910050" y="3452850"/>
              <a:ext cx="1801850" cy="2468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400400" y="3004375"/>
            <a:ext cx="535305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19114"/>
            <a:ext cx="11049000" cy="24014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1143000" y="2856063"/>
            <a:ext cx="10096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Porque la</a:t>
            </a:r>
            <a:r>
              <a:rPr lang="es-ES" sz="240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eficiencia industrial exige precisión, y el </a:t>
            </a:r>
            <a:r>
              <a:rPr lang="es-ES" sz="2400" b="1" i="0" u="none" strike="noStrike" cap="none" dirty="0">
                <a:solidFill>
                  <a:srgbClr val="39A900"/>
                </a:solidFill>
                <a:latin typeface="Lato"/>
                <a:ea typeface="Lato"/>
                <a:cs typeface="Lato"/>
                <a:sym typeface="Lato"/>
              </a:rPr>
              <a:t>control de recursos es clave.</a:t>
            </a:r>
            <a:endParaRPr dirty="0"/>
          </a:p>
        </p:txBody>
      </p:sp>
      <p:sp>
        <p:nvSpPr>
          <p:cNvPr id="174" name="Google Shape;174;p6"/>
          <p:cNvSpPr txBox="1"/>
          <p:nvPr/>
        </p:nvSpPr>
        <p:spPr>
          <a:xfrm>
            <a:off x="1238250" y="3831675"/>
            <a:ext cx="990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 embargo, la ausencia de un software específico en Colombia para este nicho genera vacíos operativos.</a:t>
            </a:r>
            <a:endParaRPr sz="2400" dirty="0"/>
          </a:p>
        </p:txBody>
      </p:sp>
      <p:sp>
        <p:nvSpPr>
          <p:cNvPr id="175" name="Google Shape;175;p6"/>
          <p:cNvSpPr/>
          <p:nvPr/>
        </p:nvSpPr>
        <p:spPr>
          <a:xfrm>
            <a:off x="1037665" y="3819825"/>
            <a:ext cx="38100" cy="762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234587" y="150968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117850" y="5481270"/>
            <a:ext cx="30287275" cy="26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9510525" y="4576125"/>
            <a:ext cx="4762500" cy="476250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1809750" y="2727302"/>
            <a:ext cx="85725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es-419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Optimizar el control de inventario y las salidas de mercancía, elevando la satisfacción del cliente en la empresa Specialized mediante una solución tecnológica robusta.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fe24e842_0_204"/>
          <p:cNvSpPr/>
          <p:nvPr/>
        </p:nvSpPr>
        <p:spPr>
          <a:xfrm>
            <a:off x="0" y="0"/>
            <a:ext cx="12192000" cy="12384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defe24e842_0_204"/>
          <p:cNvSpPr txBox="1"/>
          <p:nvPr/>
        </p:nvSpPr>
        <p:spPr>
          <a:xfrm>
            <a:off x="381000" y="238125"/>
            <a:ext cx="10477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4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g3defe24e842_0_204"/>
          <p:cNvGrpSpPr/>
          <p:nvPr/>
        </p:nvGrpSpPr>
        <p:grpSpPr>
          <a:xfrm>
            <a:off x="571500" y="1714500"/>
            <a:ext cx="7239000" cy="4191000"/>
            <a:chOff x="571500" y="1714500"/>
            <a:chExt cx="7239000" cy="4191000"/>
          </a:xfrm>
        </p:grpSpPr>
        <p:sp>
          <p:nvSpPr>
            <p:cNvPr id="195" name="Google Shape;195;g3defe24e842_0_204"/>
            <p:cNvSpPr/>
            <p:nvPr/>
          </p:nvSpPr>
          <p:spPr>
            <a:xfrm>
              <a:off x="571500" y="1714500"/>
              <a:ext cx="3429000" cy="1905000"/>
            </a:xfrm>
            <a:prstGeom prst="roundRect">
              <a:avLst>
                <a:gd name="adj" fmla="val 7500"/>
              </a:avLst>
            </a:prstGeom>
            <a:solidFill>
              <a:srgbClr val="F3F4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defe24e842_0_204"/>
            <p:cNvSpPr txBox="1"/>
            <p:nvPr/>
          </p:nvSpPr>
          <p:spPr>
            <a:xfrm>
              <a:off x="571500" y="17145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ES" sz="1600" b="1" i="0" u="none" strike="noStrike" cap="none" dirty="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Total de requerimientos</a:t>
              </a:r>
              <a:endParaRPr sz="16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s-ES" sz="4800" b="1" dirty="0">
                  <a:solidFill>
                    <a:srgbClr val="1F2937"/>
                  </a:solidFill>
                </a:rPr>
                <a:t>876</a:t>
              </a:r>
              <a:endParaRPr sz="4800" b="1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defe24e842_0_204"/>
            <p:cNvSpPr/>
            <p:nvPr/>
          </p:nvSpPr>
          <p:spPr>
            <a:xfrm>
              <a:off x="4381500" y="1714500"/>
              <a:ext cx="3429000" cy="1905000"/>
            </a:xfrm>
            <a:prstGeom prst="roundRect">
              <a:avLst>
                <a:gd name="adj" fmla="val 7500"/>
              </a:avLst>
            </a:prstGeom>
            <a:solidFill>
              <a:srgbClr val="F3F4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defe24e842_0_204"/>
            <p:cNvSpPr txBox="1"/>
            <p:nvPr/>
          </p:nvSpPr>
          <p:spPr>
            <a:xfrm>
              <a:off x="4381500" y="17145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dirty="0">
                <a:solidFill>
                  <a:srgbClr val="6B7280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ES" sz="1600" b="1" i="0" u="none" strike="noStrike" cap="none" dirty="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Cumplidos</a:t>
              </a:r>
              <a:endParaRPr sz="16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s-ES" sz="4800" b="1" dirty="0">
                  <a:solidFill>
                    <a:srgbClr val="39A900"/>
                  </a:solidFill>
                </a:rPr>
                <a:t>841</a:t>
              </a:r>
              <a:endParaRPr sz="4800" b="1" i="0" u="none" strike="noStrike" cap="none" dirty="0">
                <a:solidFill>
                  <a:srgbClr val="39A9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defe24e842_0_204"/>
            <p:cNvSpPr/>
            <p:nvPr/>
          </p:nvSpPr>
          <p:spPr>
            <a:xfrm>
              <a:off x="571500" y="4000500"/>
              <a:ext cx="7239000" cy="1905000"/>
            </a:xfrm>
            <a:prstGeom prst="roundRect">
              <a:avLst>
                <a:gd name="adj" fmla="val 7500"/>
              </a:avLst>
            </a:prstGeom>
            <a:solidFill>
              <a:srgbClr val="39A900">
                <a:alpha val="102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defe24e842_0_204"/>
            <p:cNvSpPr txBox="1"/>
            <p:nvPr/>
          </p:nvSpPr>
          <p:spPr>
            <a:xfrm>
              <a:off x="571500" y="4000500"/>
              <a:ext cx="723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2000" b="1" i="0" u="none" strike="noStrike" cap="none" dirty="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Porcentaje de cumplimiento</a:t>
              </a:r>
              <a:endParaRPr sz="2000" b="1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lang="es-ES" sz="6400" b="1" i="0" u="none" strike="noStrike" cap="none" dirty="0">
                  <a:solidFill>
                    <a:srgbClr val="39A900"/>
                  </a:solidFill>
                  <a:latin typeface="Arial"/>
                  <a:ea typeface="Arial"/>
                  <a:cs typeface="Arial"/>
                  <a:sym typeface="Arial"/>
                </a:rPr>
                <a:t>96%</a:t>
              </a:r>
              <a:endParaRPr sz="6400" b="1" i="0" u="none" strike="noStrike" cap="none" dirty="0">
                <a:solidFill>
                  <a:srgbClr val="39A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g3defe24e842_0_204">
            <a:hlinkClick r:id="rId3"/>
          </p:cNvPr>
          <p:cNvSpPr txBox="1"/>
          <p:nvPr/>
        </p:nvSpPr>
        <p:spPr>
          <a:xfrm>
            <a:off x="8202075" y="3571800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900" dirty="0">
                <a:solidFill>
                  <a:srgbClr val="6B7280"/>
                </a:solidFill>
                <a:hlinkClick r:id="rId4"/>
              </a:rPr>
              <a:t>Requerimientos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defe24e842_0_2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46450" y="238125"/>
            <a:ext cx="1091900" cy="8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efe24e842_0_220"/>
          <p:cNvSpPr/>
          <p:nvPr/>
        </p:nvSpPr>
        <p:spPr>
          <a:xfrm>
            <a:off x="0" y="0"/>
            <a:ext cx="12192000" cy="12384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efe24e842_0_220"/>
          <p:cNvSpPr txBox="1"/>
          <p:nvPr/>
        </p:nvSpPr>
        <p:spPr>
          <a:xfrm>
            <a:off x="359775" y="386750"/>
            <a:ext cx="10477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datos - </a:t>
            </a:r>
            <a:r>
              <a:rPr lang="es-ES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sz="4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efe24e842_0_220">
            <a:hlinkClick r:id="rId3"/>
          </p:cNvPr>
          <p:cNvSpPr txBox="1"/>
          <p:nvPr/>
        </p:nvSpPr>
        <p:spPr>
          <a:xfrm>
            <a:off x="8772875" y="3373675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900" dirty="0">
                <a:solidFill>
                  <a:srgbClr val="6B7280"/>
                </a:solidFill>
                <a:hlinkClick r:id="rId3"/>
              </a:rPr>
              <a:t>M</a:t>
            </a:r>
            <a:r>
              <a:rPr lang="es-ES" sz="1900" b="0" i="0" u="none" strike="noStrike" cap="none" dirty="0">
                <a:solidFill>
                  <a:srgbClr val="6B7280"/>
                </a:solidFill>
                <a:sym typeface="Arial"/>
                <a:hlinkClick r:id="rId3"/>
              </a:rPr>
              <a:t>odelo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defe24e842_0_2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6450" y="238125"/>
            <a:ext cx="1091900" cy="8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defe24e842_0_220"/>
          <p:cNvSpPr/>
          <p:nvPr/>
        </p:nvSpPr>
        <p:spPr>
          <a:xfrm>
            <a:off x="3893400" y="3850063"/>
            <a:ext cx="2581500" cy="13323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de Triggers</a:t>
            </a:r>
            <a:endParaRPr sz="1600" b="1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 dirty="0">
                <a:solidFill>
                  <a:srgbClr val="1F2937"/>
                </a:solidFill>
              </a:rPr>
              <a:t>2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efe24e842_0_220"/>
          <p:cNvSpPr/>
          <p:nvPr/>
        </p:nvSpPr>
        <p:spPr>
          <a:xfrm>
            <a:off x="359775" y="5417950"/>
            <a:ext cx="11478600" cy="883800"/>
          </a:xfrm>
          <a:prstGeom prst="roundRect">
            <a:avLst>
              <a:gd name="adj" fmla="val 7500"/>
            </a:avLst>
          </a:prstGeom>
          <a:solidFill>
            <a:srgbClr val="39A900">
              <a:alpha val="102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defe24e842_0_220"/>
          <p:cNvSpPr/>
          <p:nvPr/>
        </p:nvSpPr>
        <p:spPr>
          <a:xfrm>
            <a:off x="997525" y="3850063"/>
            <a:ext cx="2581500" cy="13323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de funciones</a:t>
            </a:r>
            <a:endParaRPr sz="1600" b="1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 dirty="0">
                <a:solidFill>
                  <a:srgbClr val="1F2937"/>
                </a:solidFill>
              </a:rPr>
              <a:t>97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defe24e842_0_220"/>
          <p:cNvSpPr/>
          <p:nvPr/>
        </p:nvSpPr>
        <p:spPr>
          <a:xfrm>
            <a:off x="997525" y="1696000"/>
            <a:ext cx="2581500" cy="19185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de tablas</a:t>
            </a:r>
            <a:endParaRPr sz="1600" b="1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>
                <a:solidFill>
                  <a:srgbClr val="1F2937"/>
                </a:solidFill>
              </a:rPr>
              <a:t>33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efe24e842_0_220"/>
          <p:cNvSpPr/>
          <p:nvPr/>
        </p:nvSpPr>
        <p:spPr>
          <a:xfrm>
            <a:off x="3893400" y="1696000"/>
            <a:ext cx="2581500" cy="19185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s-ES" sz="1600" b="1">
                <a:solidFill>
                  <a:srgbClr val="6B7280"/>
                </a:solidFill>
              </a:rPr>
              <a:t>ablas maestras</a:t>
            </a:r>
            <a:endParaRPr sz="1600" b="1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>
                <a:solidFill>
                  <a:srgbClr val="1F2937"/>
                </a:solidFill>
              </a:rPr>
              <a:t>24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efe24e842_0_220"/>
          <p:cNvSpPr/>
          <p:nvPr/>
        </p:nvSpPr>
        <p:spPr>
          <a:xfrm>
            <a:off x="6674525" y="2469750"/>
            <a:ext cx="2581500" cy="19185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s-ES" sz="1600" b="1">
                <a:solidFill>
                  <a:srgbClr val="6B7280"/>
                </a:solidFill>
              </a:rPr>
              <a:t>ablas transaccionales</a:t>
            </a:r>
            <a:endParaRPr sz="1600" b="1">
              <a:solidFill>
                <a:srgbClr val="6B728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800" b="1">
                <a:solidFill>
                  <a:srgbClr val="1F2937"/>
                </a:solidFill>
              </a:rPr>
              <a:t>9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efe24e842_0_319"/>
          <p:cNvSpPr/>
          <p:nvPr/>
        </p:nvSpPr>
        <p:spPr>
          <a:xfrm>
            <a:off x="0" y="0"/>
            <a:ext cx="12192000" cy="12384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defe24e842_0_319"/>
          <p:cNvSpPr txBox="1"/>
          <p:nvPr/>
        </p:nvSpPr>
        <p:spPr>
          <a:xfrm>
            <a:off x="359775" y="386750"/>
            <a:ext cx="10477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TÉCNICO - USUARIO</a:t>
            </a:r>
            <a:endParaRPr lang="es-419" sz="4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defe24e842_0_3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6450" y="238125"/>
            <a:ext cx="1091900" cy="8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defe24e842_0_319">
            <a:hlinkClick r:id="rId4"/>
          </p:cNvPr>
          <p:cNvSpPr txBox="1"/>
          <p:nvPr/>
        </p:nvSpPr>
        <p:spPr>
          <a:xfrm>
            <a:off x="1546275" y="3237875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900" dirty="0">
                <a:solidFill>
                  <a:srgbClr val="6B7280"/>
                </a:solidFill>
                <a:hlinkClick r:id="rId5"/>
              </a:rPr>
              <a:t>Manual técnico</a:t>
            </a:r>
            <a:endParaRPr sz="1900" dirty="0">
              <a:solidFill>
                <a:srgbClr val="6B7280"/>
              </a:solidFill>
            </a:endParaRPr>
          </a:p>
        </p:txBody>
      </p:sp>
      <p:sp>
        <p:nvSpPr>
          <p:cNvPr id="227" name="Google Shape;227;g3defe24e842_0_319"/>
          <p:cNvSpPr txBox="1"/>
          <p:nvPr/>
        </p:nvSpPr>
        <p:spPr>
          <a:xfrm>
            <a:off x="7317450" y="3382400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900">
                <a:solidFill>
                  <a:srgbClr val="6B7280"/>
                </a:solidFill>
              </a:rPr>
              <a:t>Manual usuario</a:t>
            </a:r>
            <a:endParaRPr sz="190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fe24e842_0_0"/>
          <p:cNvSpPr txBox="1">
            <a:spLocks noGrp="1"/>
          </p:cNvSpPr>
          <p:nvPr>
            <p:ph type="title"/>
          </p:nvPr>
        </p:nvSpPr>
        <p:spPr>
          <a:xfrm>
            <a:off x="423025" y="52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>
                <a:solidFill>
                  <a:schemeClr val="lt1"/>
                </a:solidFill>
              </a:rPr>
              <a:t>Estructura general del proyecto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34" name="Google Shape;234;g3defe24e842_0_0"/>
          <p:cNvCxnSpPr/>
          <p:nvPr/>
        </p:nvCxnSpPr>
        <p:spPr>
          <a:xfrm>
            <a:off x="11556350" y="3512625"/>
            <a:ext cx="11700" cy="2440500"/>
          </a:xfrm>
          <a:prstGeom prst="straightConnector1">
            <a:avLst/>
          </a:prstGeom>
          <a:noFill/>
          <a:ln w="38100" cap="flat" cmpd="sng">
            <a:solidFill>
              <a:srgbClr val="78537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AA04A0F-0DF9-47FC-897A-5BCA1A57B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17" y="1591894"/>
            <a:ext cx="11814366" cy="52137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fe24e842_0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efe24e842_0_7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FRONTEND - VISTA DE USUARIO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g3defe24e842_0_7"/>
          <p:cNvGrpSpPr/>
          <p:nvPr/>
        </p:nvGrpSpPr>
        <p:grpSpPr>
          <a:xfrm>
            <a:off x="6477000" y="1714500"/>
            <a:ext cx="5143500" cy="1285125"/>
            <a:chOff x="6477000" y="1714500"/>
            <a:chExt cx="5143500" cy="1285125"/>
          </a:xfrm>
        </p:grpSpPr>
        <p:sp>
          <p:nvSpPr>
            <p:cNvPr id="244" name="Google Shape;244;g3defe24e842_0_7"/>
            <p:cNvSpPr/>
            <p:nvPr/>
          </p:nvSpPr>
          <p:spPr>
            <a:xfrm>
              <a:off x="6477000" y="1714500"/>
              <a:ext cx="5143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defe24e842_0_7"/>
            <p:cNvSpPr txBox="1"/>
            <p:nvPr/>
          </p:nvSpPr>
          <p:spPr>
            <a:xfrm>
              <a:off x="7000800" y="1761225"/>
              <a:ext cx="4095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Componentes reutilizables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La función renderTabla es un componente genérico que construye cualquier tabla de gestión (clientes, empleados, etc.).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g3defe24e842_0_7"/>
          <p:cNvGrpSpPr/>
          <p:nvPr/>
        </p:nvGrpSpPr>
        <p:grpSpPr>
          <a:xfrm>
            <a:off x="6477000" y="3286125"/>
            <a:ext cx="5143500" cy="1261763"/>
            <a:chOff x="6477000" y="3286125"/>
            <a:chExt cx="5143500" cy="1261763"/>
          </a:xfrm>
        </p:grpSpPr>
        <p:sp>
          <p:nvSpPr>
            <p:cNvPr id="247" name="Google Shape;247;g3defe24e842_0_7"/>
            <p:cNvSpPr/>
            <p:nvPr/>
          </p:nvSpPr>
          <p:spPr>
            <a:xfrm>
              <a:off x="6477000" y="3286125"/>
              <a:ext cx="5143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defe24e842_0_7"/>
            <p:cNvSpPr txBox="1"/>
            <p:nvPr/>
          </p:nvSpPr>
          <p:spPr>
            <a:xfrm>
              <a:off x="7000800" y="3309488"/>
              <a:ext cx="4095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Encapsulación de código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Uso de Template Literals para inyectar HTML dinámico sin usar frameworks pesados.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" name="Google Shape;249;g3defe24e842_0_7"/>
          <p:cNvGrpSpPr/>
          <p:nvPr/>
        </p:nvGrpSpPr>
        <p:grpSpPr>
          <a:xfrm>
            <a:off x="6477000" y="4857750"/>
            <a:ext cx="5143500" cy="1291325"/>
            <a:chOff x="6477000" y="4857750"/>
            <a:chExt cx="5143500" cy="1291325"/>
          </a:xfrm>
        </p:grpSpPr>
        <p:sp>
          <p:nvSpPr>
            <p:cNvPr id="250" name="Google Shape;250;g3defe24e842_0_7"/>
            <p:cNvSpPr/>
            <p:nvPr/>
          </p:nvSpPr>
          <p:spPr>
            <a:xfrm>
              <a:off x="6477000" y="4857750"/>
              <a:ext cx="5143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defe24e842_0_7"/>
            <p:cNvSpPr txBox="1"/>
            <p:nvPr/>
          </p:nvSpPr>
          <p:spPr>
            <a:xfrm>
              <a:off x="7000800" y="4910675"/>
              <a:ext cx="4095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Sincronización de estado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Actualización automática de la interfaz al recibir datos del servidor.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52" name="Google Shape;252;g3defe24e842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8" y="236050"/>
            <a:ext cx="828675" cy="857250"/>
          </a:xfrm>
          <a:prstGeom prst="rect">
            <a:avLst/>
          </a:prstGeom>
          <a:solidFill>
            <a:srgbClr val="39A900"/>
          </a:solidFill>
          <a:ln>
            <a:noFill/>
          </a:ln>
        </p:spPr>
      </p:pic>
      <p:pic>
        <p:nvPicPr>
          <p:cNvPr id="253" name="Google Shape;253;g3defe24e84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95400"/>
            <a:ext cx="6172200" cy="478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01;g3defe24e842_0_204">
            <a:extLst>
              <a:ext uri="{FF2B5EF4-FFF2-40B4-BE49-F238E27FC236}">
                <a16:creationId xmlns:a16="http://schemas.microsoft.com/office/drawing/2014/main" id="{0A7FAE9D-7E14-4B45-B879-6C380ACFCE2F}"/>
              </a:ext>
            </a:extLst>
          </p:cNvPr>
          <p:cNvSpPr txBox="1"/>
          <p:nvPr/>
        </p:nvSpPr>
        <p:spPr>
          <a:xfrm>
            <a:off x="1524000" y="6242242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9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menuPrincipal.js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efe24e842_0_2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efe24e842_0_27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5556"/>
              <a:buNone/>
            </a:pP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5556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FRONTEND - PETICIÓN HTTP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1" name="Google Shape;261;g3defe24e842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8" y="236050"/>
            <a:ext cx="8286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g3defe24e842_0_27"/>
          <p:cNvGrpSpPr/>
          <p:nvPr/>
        </p:nvGrpSpPr>
        <p:grpSpPr>
          <a:xfrm>
            <a:off x="6376225" y="2304163"/>
            <a:ext cx="5334000" cy="952500"/>
            <a:chOff x="6286500" y="2714625"/>
            <a:chExt cx="5334000" cy="952500"/>
          </a:xfrm>
        </p:grpSpPr>
        <p:sp>
          <p:nvSpPr>
            <p:cNvPr id="263" name="Google Shape;263;g3defe24e842_0_27"/>
            <p:cNvSpPr/>
            <p:nvPr/>
          </p:nvSpPr>
          <p:spPr>
            <a:xfrm>
              <a:off x="6286500" y="2714625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3defe24e842_0_27"/>
            <p:cNvSpPr txBox="1"/>
            <p:nvPr/>
          </p:nvSpPr>
          <p:spPr>
            <a:xfrm>
              <a:off x="7096125" y="2714625"/>
              <a:ext cx="43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Método POST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 Envío seguro de credenciales en el cuerpo de la petición.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" name="Google Shape;265;g3defe24e842_0_27"/>
          <p:cNvGrpSpPr/>
          <p:nvPr/>
        </p:nvGrpSpPr>
        <p:grpSpPr>
          <a:xfrm>
            <a:off x="6376225" y="3494788"/>
            <a:ext cx="5334000" cy="952500"/>
            <a:chOff x="6286500" y="3905250"/>
            <a:chExt cx="5334000" cy="952500"/>
          </a:xfrm>
        </p:grpSpPr>
        <p:sp>
          <p:nvSpPr>
            <p:cNvPr id="266" name="Google Shape;266;g3defe24e842_0_27"/>
            <p:cNvSpPr/>
            <p:nvPr/>
          </p:nvSpPr>
          <p:spPr>
            <a:xfrm>
              <a:off x="6286500" y="3905250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defe24e842_0_27"/>
            <p:cNvSpPr txBox="1"/>
            <p:nvPr/>
          </p:nvSpPr>
          <p:spPr>
            <a:xfrm>
              <a:off x="7096125" y="3905250"/>
              <a:ext cx="43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Configuración de Headers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Validación del Content-Type para asegurar la integridad de los datos.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g3defe24e842_0_27"/>
          <p:cNvGrpSpPr/>
          <p:nvPr/>
        </p:nvGrpSpPr>
        <p:grpSpPr>
          <a:xfrm>
            <a:off x="6376225" y="4685413"/>
            <a:ext cx="5334000" cy="952500"/>
            <a:chOff x="6286500" y="5095875"/>
            <a:chExt cx="5334000" cy="952500"/>
          </a:xfrm>
        </p:grpSpPr>
        <p:sp>
          <p:nvSpPr>
            <p:cNvPr id="269" name="Google Shape;269;g3defe24e842_0_27"/>
            <p:cNvSpPr/>
            <p:nvPr/>
          </p:nvSpPr>
          <p:spPr>
            <a:xfrm>
              <a:off x="6286500" y="5095875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defe24e842_0_27"/>
            <p:cNvSpPr txBox="1"/>
            <p:nvPr/>
          </p:nvSpPr>
          <p:spPr>
            <a:xfrm>
              <a:off x="7096125" y="5095875"/>
              <a:ext cx="43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Persistencia de JWT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 Uso de localStorage.setItem para mantener la sesión activa entre páginas.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" name="Google Shape;201;g3defe24e842_0_204">
            <a:extLst>
              <a:ext uri="{FF2B5EF4-FFF2-40B4-BE49-F238E27FC236}">
                <a16:creationId xmlns:a16="http://schemas.microsoft.com/office/drawing/2014/main" id="{C5A043D5-3D30-4908-87B2-A9F852D97E2D}"/>
              </a:ext>
            </a:extLst>
          </p:cNvPr>
          <p:cNvSpPr txBox="1"/>
          <p:nvPr/>
        </p:nvSpPr>
        <p:spPr>
          <a:xfrm>
            <a:off x="7404847" y="6189175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9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Inicio_sesion.js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29320E7-AE34-426D-8845-31B1325FD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87" y="1690163"/>
            <a:ext cx="4316094" cy="49754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efe24e842_0_4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efe24e842_0_47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BACKEND - ENDPOINT (CONTROLADOR)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9" name="Google Shape;279;g3defe24e842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8" y="142875"/>
            <a:ext cx="8286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g3defe24e842_0_47"/>
          <p:cNvGrpSpPr/>
          <p:nvPr/>
        </p:nvGrpSpPr>
        <p:grpSpPr>
          <a:xfrm>
            <a:off x="6286500" y="1714500"/>
            <a:ext cx="5334000" cy="1143000"/>
            <a:chOff x="6286500" y="1714500"/>
            <a:chExt cx="5334000" cy="1143000"/>
          </a:xfrm>
        </p:grpSpPr>
        <p:sp>
          <p:nvSpPr>
            <p:cNvPr id="281" name="Google Shape;281;g3defe24e842_0_47"/>
            <p:cNvSpPr/>
            <p:nvPr/>
          </p:nvSpPr>
          <p:spPr>
            <a:xfrm>
              <a:off x="6286500" y="171450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defe24e842_0_47"/>
            <p:cNvSpPr txBox="1"/>
            <p:nvPr/>
          </p:nvSpPr>
          <p:spPr>
            <a:xfrm>
              <a:off x="6810300" y="1714500"/>
              <a:ext cx="428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Construcción de Rutas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El archivo actúa como el punto de entrada (Endpoint) que procesa la petición.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" name="Google Shape;283;g3defe24e842_0_47"/>
          <p:cNvGrpSpPr/>
          <p:nvPr/>
        </p:nvGrpSpPr>
        <p:grpSpPr>
          <a:xfrm>
            <a:off x="6286500" y="3143250"/>
            <a:ext cx="5334000" cy="1143000"/>
            <a:chOff x="6286500" y="3143250"/>
            <a:chExt cx="5334000" cy="1143000"/>
          </a:xfrm>
        </p:grpSpPr>
        <p:sp>
          <p:nvSpPr>
            <p:cNvPr id="284" name="Google Shape;284;g3defe24e842_0_47"/>
            <p:cNvSpPr/>
            <p:nvPr/>
          </p:nvSpPr>
          <p:spPr>
            <a:xfrm>
              <a:off x="6286500" y="3143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defe24e842_0_47"/>
            <p:cNvSpPr txBox="1"/>
            <p:nvPr/>
          </p:nvSpPr>
          <p:spPr>
            <a:xfrm>
              <a:off x="6810300" y="3143250"/>
              <a:ext cx="428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Inyección de Servicios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 Uso de conexion.php y jwt.php para separar responsabilidades.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" name="Google Shape;286;g3defe24e842_0_47"/>
          <p:cNvGrpSpPr/>
          <p:nvPr/>
        </p:nvGrpSpPr>
        <p:grpSpPr>
          <a:xfrm>
            <a:off x="6286500" y="4572000"/>
            <a:ext cx="5334000" cy="1143000"/>
            <a:chOff x="6286500" y="4572000"/>
            <a:chExt cx="5334000" cy="1143000"/>
          </a:xfrm>
        </p:grpSpPr>
        <p:sp>
          <p:nvSpPr>
            <p:cNvPr id="287" name="Google Shape;287;g3defe24e842_0_47"/>
            <p:cNvSpPr/>
            <p:nvPr/>
          </p:nvSpPr>
          <p:spPr>
            <a:xfrm>
              <a:off x="6286500" y="457200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defe24e842_0_47"/>
            <p:cNvSpPr txBox="1"/>
            <p:nvPr/>
          </p:nvSpPr>
          <p:spPr>
            <a:xfrm>
              <a:off x="6810300" y="4572000"/>
              <a:ext cx="428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Seguridad y JWT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Implementación de cabeceras OWASP y generación de tokens JWT.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89" name="Google Shape;289;g3defe24e842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25" y="1460500"/>
            <a:ext cx="2694451" cy="52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01;g3defe24e842_0_204">
            <a:extLst>
              <a:ext uri="{FF2B5EF4-FFF2-40B4-BE49-F238E27FC236}">
                <a16:creationId xmlns:a16="http://schemas.microsoft.com/office/drawing/2014/main" id="{6D74BF48-E668-4BCB-9B9B-ADFCE5FEFBAE}"/>
              </a:ext>
            </a:extLst>
          </p:cNvPr>
          <p:cNvSpPr txBox="1"/>
          <p:nvPr/>
        </p:nvSpPr>
        <p:spPr>
          <a:xfrm>
            <a:off x="7404847" y="6189175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900" dirty="0" err="1">
                <a:solidFill>
                  <a:srgbClr val="6B7280"/>
                </a:solidFill>
              </a:rPr>
              <a:t>v</a:t>
            </a:r>
            <a:r>
              <a:rPr lang="es-419" sz="1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alidar.php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C8A71FB-131E-467A-B408-B45722605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834" y="2534575"/>
            <a:ext cx="2934008" cy="31075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efe24e842_0_6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efe24e842_0_67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BACKEND - SERVICIO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g3defe24e842_0_67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1158538" y="142875"/>
            <a:ext cx="8286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g3defe24e842_0_67"/>
          <p:cNvGrpSpPr/>
          <p:nvPr/>
        </p:nvGrpSpPr>
        <p:grpSpPr>
          <a:xfrm>
            <a:off x="6286500" y="1714500"/>
            <a:ext cx="5524500" cy="1238400"/>
            <a:chOff x="6286500" y="1714500"/>
            <a:chExt cx="5524500" cy="1238400"/>
          </a:xfrm>
        </p:grpSpPr>
        <p:sp>
          <p:nvSpPr>
            <p:cNvPr id="300" name="Google Shape;300;g3defe24e842_0_67"/>
            <p:cNvSpPr/>
            <p:nvPr/>
          </p:nvSpPr>
          <p:spPr>
            <a:xfrm>
              <a:off x="6286500" y="1714500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defe24e842_0_67"/>
            <p:cNvSpPr txBox="1"/>
            <p:nvPr/>
          </p:nvSpPr>
          <p:spPr>
            <a:xfrm>
              <a:off x="7096125" y="1714500"/>
              <a:ext cx="4619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Acceso a Datos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Centralización de todas las consultas SQL en una sola clase de servicio.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2" name="Google Shape;302;g3defe24e842_0_67"/>
          <p:cNvGrpSpPr/>
          <p:nvPr/>
        </p:nvGrpSpPr>
        <p:grpSpPr>
          <a:xfrm>
            <a:off x="6286500" y="3095625"/>
            <a:ext cx="5524500" cy="1238400"/>
            <a:chOff x="6286500" y="3095625"/>
            <a:chExt cx="5524500" cy="1238400"/>
          </a:xfrm>
        </p:grpSpPr>
        <p:sp>
          <p:nvSpPr>
            <p:cNvPr id="303" name="Google Shape;303;g3defe24e842_0_67"/>
            <p:cNvSpPr/>
            <p:nvPr/>
          </p:nvSpPr>
          <p:spPr>
            <a:xfrm>
              <a:off x="6286500" y="3095625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defe24e842_0_67"/>
            <p:cNvSpPr txBox="1"/>
            <p:nvPr/>
          </p:nvSpPr>
          <p:spPr>
            <a:xfrm>
              <a:off x="7096125" y="3095625"/>
              <a:ext cx="4619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Validación con </a:t>
              </a:r>
              <a:r>
                <a:rPr lang="es-ES" sz="1800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PDO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Sanitización automática de datos para prevenir Inyección SQL.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g3defe24e842_0_67"/>
          <p:cNvGrpSpPr/>
          <p:nvPr/>
        </p:nvGrpSpPr>
        <p:grpSpPr>
          <a:xfrm>
            <a:off x="6286500" y="4476750"/>
            <a:ext cx="5524500" cy="1238400"/>
            <a:chOff x="6286500" y="4476750"/>
            <a:chExt cx="5524500" cy="1238400"/>
          </a:xfrm>
        </p:grpSpPr>
        <p:sp>
          <p:nvSpPr>
            <p:cNvPr id="306" name="Google Shape;306;g3defe24e842_0_67"/>
            <p:cNvSpPr/>
            <p:nvPr/>
          </p:nvSpPr>
          <p:spPr>
            <a:xfrm>
              <a:off x="6286500" y="4476750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defe24e842_0_67"/>
            <p:cNvSpPr txBox="1"/>
            <p:nvPr/>
          </p:nvSpPr>
          <p:spPr>
            <a:xfrm>
              <a:off x="7096125" y="4476750"/>
              <a:ext cx="4619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Persistencia y Lógica DB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Separación total entre la consulta SQL y la lógica de presentación del front-end.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08" name="Google Shape;308;g3defe24e842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623500"/>
            <a:ext cx="5524501" cy="3013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defe24e842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4692348"/>
            <a:ext cx="5524500" cy="183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01;g3defe24e842_0_204">
            <a:extLst>
              <a:ext uri="{FF2B5EF4-FFF2-40B4-BE49-F238E27FC236}">
                <a16:creationId xmlns:a16="http://schemas.microsoft.com/office/drawing/2014/main" id="{D028E615-D112-4796-94B9-B3146F368B0D}"/>
              </a:ext>
            </a:extLst>
          </p:cNvPr>
          <p:cNvSpPr txBox="1"/>
          <p:nvPr/>
        </p:nvSpPr>
        <p:spPr>
          <a:xfrm>
            <a:off x="7404847" y="6189175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900" dirty="0" err="1">
                <a:solidFill>
                  <a:srgbClr val="6B7280"/>
                </a:solidFill>
              </a:rPr>
              <a:t>querys</a:t>
            </a:r>
            <a:r>
              <a:rPr lang="es-419" sz="1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.php</a:t>
            </a:r>
            <a:endParaRPr sz="1900" b="0" i="0" u="none" strike="noStrike" cap="none" dirty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efe24e842_0_8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defe24e842_0_87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BACKEND - FUNCIÓN ALMACENADA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g3defe24e842_0_87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1158538" y="142875"/>
            <a:ext cx="8286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g3defe24e842_0_87"/>
          <p:cNvGrpSpPr/>
          <p:nvPr/>
        </p:nvGrpSpPr>
        <p:grpSpPr>
          <a:xfrm>
            <a:off x="8682561" y="4436459"/>
            <a:ext cx="3419113" cy="1991100"/>
            <a:chOff x="6286500" y="1714500"/>
            <a:chExt cx="5524500" cy="1238400"/>
          </a:xfrm>
        </p:grpSpPr>
        <p:sp>
          <p:nvSpPr>
            <p:cNvPr id="319" name="Google Shape;319;g3defe24e842_0_87"/>
            <p:cNvSpPr/>
            <p:nvPr/>
          </p:nvSpPr>
          <p:spPr>
            <a:xfrm>
              <a:off x="6286500" y="1714500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defe24e842_0_87"/>
            <p:cNvSpPr txBox="1"/>
            <p:nvPr/>
          </p:nvSpPr>
          <p:spPr>
            <a:xfrm>
              <a:off x="6738900" y="1714500"/>
              <a:ext cx="4619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PLPGSQL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Lenguaje procedural que permite ejecutar lógica compleja directamente en el servidor de base de datos.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1" name="Google Shape;321;g3defe24e842_0_87"/>
          <p:cNvGrpSpPr/>
          <p:nvPr/>
        </p:nvGrpSpPr>
        <p:grpSpPr>
          <a:xfrm>
            <a:off x="4750258" y="4436449"/>
            <a:ext cx="3817982" cy="1991079"/>
            <a:chOff x="6286500" y="3095623"/>
            <a:chExt cx="5524500" cy="1778702"/>
          </a:xfrm>
        </p:grpSpPr>
        <p:sp>
          <p:nvSpPr>
            <p:cNvPr id="322" name="Google Shape;322;g3defe24e842_0_87"/>
            <p:cNvSpPr/>
            <p:nvPr/>
          </p:nvSpPr>
          <p:spPr>
            <a:xfrm>
              <a:off x="6286500" y="3095625"/>
              <a:ext cx="5524500" cy="17787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defe24e842_0_87"/>
            <p:cNvSpPr txBox="1"/>
            <p:nvPr/>
          </p:nvSpPr>
          <p:spPr>
            <a:xfrm>
              <a:off x="6738900" y="3095623"/>
              <a:ext cx="4619700" cy="17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Validación reglas de negocio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 Uso de RAISE EXCEPTION para controlar stock, consecutivos y estados de clientes.</a:t>
              </a:r>
              <a:endParaRPr sz="1200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200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Integridad Transaccional: Garantía de que la venta y el descuento de inventario ocurran como una única unidad atómica.</a:t>
              </a:r>
              <a:endParaRPr sz="1200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4" name="Google Shape;324;g3defe24e842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775" y="1395300"/>
            <a:ext cx="4381075" cy="54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defe24e842_0_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5625" y="1452400"/>
            <a:ext cx="56007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defe24e842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9025"/>
            <a:ext cx="5355175" cy="574102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defe24e842_0_10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efe24e842_0_103"/>
          <p:cNvSpPr txBox="1">
            <a:spLocks noGrp="1"/>
          </p:cNvSpPr>
          <p:nvPr>
            <p:ph type="title"/>
          </p:nvPr>
        </p:nvSpPr>
        <p:spPr>
          <a:xfrm>
            <a:off x="381000" y="95250"/>
            <a:ext cx="10515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BACKEND - DDL</a:t>
            </a:r>
            <a:endParaRPr sz="36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4" name="Google Shape;334;g3defe24e842_0_103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11158538" y="142875"/>
            <a:ext cx="8286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g3defe24e842_0_103"/>
          <p:cNvGrpSpPr/>
          <p:nvPr/>
        </p:nvGrpSpPr>
        <p:grpSpPr>
          <a:xfrm>
            <a:off x="6155200" y="3143675"/>
            <a:ext cx="5524500" cy="1238400"/>
            <a:chOff x="5979050" y="2150850"/>
            <a:chExt cx="5524500" cy="1238400"/>
          </a:xfrm>
        </p:grpSpPr>
        <p:sp>
          <p:nvSpPr>
            <p:cNvPr id="336" name="Google Shape;336;g3defe24e842_0_103"/>
            <p:cNvSpPr/>
            <p:nvPr/>
          </p:nvSpPr>
          <p:spPr>
            <a:xfrm>
              <a:off x="5979050" y="2150850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defe24e842_0_103"/>
            <p:cNvSpPr txBox="1"/>
            <p:nvPr/>
          </p:nvSpPr>
          <p:spPr>
            <a:xfrm>
              <a:off x="6039950" y="2150850"/>
              <a:ext cx="4619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>
                  <a:solidFill>
                    <a:srgbClr val="1E293B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Validación reglas de negocio</a:t>
              </a:r>
              <a:endParaRPr sz="1800" b="0" i="0" u="none" strike="noStrike" cap="none">
                <a:solidFill>
                  <a:srgbClr val="1E293B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>
                  <a:solidFill>
                    <a:srgbClr val="64748B"/>
                  </a:solidFill>
                  <a:latin typeface="Lexend"/>
                  <a:ea typeface="Lexend"/>
                  <a:cs typeface="Lexend"/>
                  <a:sym typeface="Lexend"/>
                </a:rPr>
                <a:t>Validación adicional de reglas de negocio para garantizar la integridad de los datos</a:t>
              </a:r>
              <a:endParaRPr sz="1200" b="0" i="0" u="none" strike="noStrike" cap="none">
                <a:solidFill>
                  <a:srgbClr val="64748B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8" name="Google Shape;338;g3defe24e842_0_103"/>
          <p:cNvSpPr txBox="1"/>
          <p:nvPr/>
        </p:nvSpPr>
        <p:spPr>
          <a:xfrm>
            <a:off x="1083100" y="2463175"/>
            <a:ext cx="46197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E293B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rgbClr val="64748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g3defe24e842_0_103"/>
          <p:cNvSpPr txBox="1"/>
          <p:nvPr/>
        </p:nvSpPr>
        <p:spPr>
          <a:xfrm>
            <a:off x="6607600" y="4209650"/>
            <a:ext cx="4619700" cy="19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100" b="1" u="sng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 INSTALACIÓN</a:t>
            </a:r>
            <a:endParaRPr sz="2100" b="1" i="0" u="none" strike="noStrike" cap="none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d925fce4a_1_97"/>
          <p:cNvSpPr txBox="1"/>
          <p:nvPr/>
        </p:nvSpPr>
        <p:spPr>
          <a:xfrm>
            <a:off x="234567" y="383000"/>
            <a:ext cx="3882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Citas Bibliográficas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dd925fce4a_1_97"/>
          <p:cNvSpPr txBox="1"/>
          <p:nvPr/>
        </p:nvSpPr>
        <p:spPr>
          <a:xfrm>
            <a:off x="574675" y="1852679"/>
            <a:ext cx="112116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ES" sz="1100" u="sng">
                <a:solidFill>
                  <a:schemeClr val="hlink"/>
                </a:solidFill>
                <a:hlinkClick r:id="rId3"/>
              </a:rPr>
              <a:t>https://www.netlogistik.com/es/blog/todo-sobre-la-administracion-de-inventario-que-es-y-como-funciona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ES" sz="1100" u="sng">
                <a:solidFill>
                  <a:schemeClr val="hlink"/>
                </a:solidFill>
                <a:hlinkClick r:id="rId4"/>
              </a:rPr>
              <a:t>https://prolyam.com/cual-es-el-costo-total-del-sistema-de-inventario/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ES" sz="1100" u="sng">
                <a:solidFill>
                  <a:schemeClr val="hlink"/>
                </a:solidFill>
                <a:hlinkClick r:id="rId5"/>
              </a:rPr>
              <a:t>https://www.google.com/maps/place/Specialized+Instrumental+Dental/@7.0680288,-73.0982567,7a,73.2y/data=!3m8!1e2!3m6!1sCIHM0ogKEICAgIDWuMjYlwE!2e10!3e12!6shttps:%2F%2Flh3.googleusercontent.com%2Fgps-cs-s%2FAPNQkAG8v7IL2rXWUTy6a8YqBD4mKRihxc--gPEvJl3kKPYgQwq9m5v4hDL4MbF72QxUFvxtCz12Hs3xCIT5kZ6AxHhKsdRZpaQy-VYofYKLoRUSEGuxMGlpdcDQmpx5vCPGoUJx_nquyQ%3Dw203-h270-k-no!7i2448!8i3264!4m17!1m9!3m8!1s0x8e683f653522c85b:0x688de26a044ce437!2sSpecialized+Instrumental+Dental!8m2!3d7.0683181!4d-73.0979536!9m1!1b1!16s%2Fg%2F11qg978fwz!3m6!1s0x8e683f653522c85b:0x688de26a044ce437!8m2!3d7.0683181!4d-73.0979536!10e5!16s%2Fg%2F11qg978fwz?entry=ttu&amp;g_ep=EgoyMDI2MDUwMi4wIKXMDSoASAFQAw%3D%3D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961</Words>
  <Application>Microsoft Office PowerPoint</Application>
  <PresentationFormat>Panorámica</PresentationFormat>
  <Paragraphs>135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1" baseType="lpstr">
      <vt:lpstr>Arial</vt:lpstr>
      <vt:lpstr>Lato</vt:lpstr>
      <vt:lpstr>Calibri</vt:lpstr>
      <vt:lpstr>Lexend SemiBold</vt:lpstr>
      <vt:lpstr>Montserrat</vt:lpstr>
      <vt:lpstr>Lexend</vt:lpstr>
      <vt:lpstr>Open Sans</vt:lpstr>
      <vt:lpstr>Work Sans</vt:lpstr>
      <vt:lpstr>Trebuchet MS</vt:lpstr>
      <vt:lpstr>Poppins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Estructura general del proyecto</vt:lpstr>
      <vt:lpstr>FRONTEND - VISTA DE USUARIO</vt:lpstr>
      <vt:lpstr> FRONTEND - PETICIÓN HTTP</vt:lpstr>
      <vt:lpstr>BACKEND - ENDPOINT (CONTROLADOR)</vt:lpstr>
      <vt:lpstr>BACKEND - SERVICIO</vt:lpstr>
      <vt:lpstr>BACKEND - FUNCIÓN ALMACENADA</vt:lpstr>
      <vt:lpstr>BACKEND - DDL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 CSET</cp:lastModifiedBy>
  <cp:revision>12</cp:revision>
  <dcterms:created xsi:type="dcterms:W3CDTF">2025-04-05T22:13:30Z</dcterms:created>
  <dcterms:modified xsi:type="dcterms:W3CDTF">2026-05-15T01:25:59Z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C02D1B5B6AED466A9944616DF657D35F_12</vt:lpwstr>
  </property>
  <property fmtid="{D5CDD505-2E9C-101B-9397-08002B2CF9AE}" pid="10" name="KSOProductBuildVer">
    <vt:lpwstr>2058-12.2.0.20782</vt:lpwstr>
  </property>
</Properties>
</file>